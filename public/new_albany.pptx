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</p:sldIdLst>
  <p:sldSz cy="5143500" cx="9144000"/>
  <p:notesSz cx="5143500" cy="9144000"/>
  <p:embeddedFontLst>
    <p:embeddedFont>
      <p:font typeface="Albert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AlbertSans-regular.fntdata"/><Relationship Id="rId50" Type="http://schemas.openxmlformats.org/officeDocument/2006/relationships/slide" Target="slides/slide46.xml"/><Relationship Id="rId53" Type="http://schemas.openxmlformats.org/officeDocument/2006/relationships/font" Target="fonts/AlbertSans-italic.fntdata"/><Relationship Id="rId52" Type="http://schemas.openxmlformats.org/officeDocument/2006/relationships/font" Target="fonts/Albert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54" Type="http://schemas.openxmlformats.org/officeDocument/2006/relationships/font" Target="fonts/Albert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_LAYOUT">
  <p:cSld name="DEFAULT_LAYOUT">
    <p:bg>
      <p:bgPr>
        <a:solidFill>
          <a:srgbClr val="6E9075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E9075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749300" y="1549400"/>
            <a:ext cx="7645400" cy="20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Software Engineering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E9077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749300" y="1549400"/>
            <a:ext cx="7645400" cy="20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Please Interrupt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E917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749300" y="1549400"/>
            <a:ext cx="7645400" cy="20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Software Engineering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E927D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749300" y="1038225"/>
            <a:ext cx="7645400" cy="306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Single Best Option For a Career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E938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/>
          <p:nvPr/>
        </p:nvSpPr>
        <p:spPr>
          <a:xfrm>
            <a:off x="749300" y="1549400"/>
            <a:ext cx="7645400" cy="20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First job AI will take over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E9483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749300" y="1038225"/>
            <a:ext cx="7645400" cy="306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What if I don't care about programming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E9586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/>
        </p:nvSpPr>
        <p:spPr>
          <a:xfrm>
            <a:off x="749300" y="635000"/>
            <a:ext cx="7645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51"/>
              <a:buFont typeface="Albert Sans"/>
              <a:buNone/>
            </a:pPr>
            <a:r>
              <a:rPr b="1" i="0" lang="en-US" sz="455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Reasons People Are in Software</a:t>
            </a:r>
            <a:endParaRPr b="0" i="0" sz="45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0"/>
          <p:cNvSpPr/>
          <p:nvPr/>
        </p:nvSpPr>
        <p:spPr>
          <a:xfrm>
            <a:off x="749300" y="2144812"/>
            <a:ext cx="6018808" cy="2275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6758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9"/>
              <a:buFont typeface="Calibri"/>
              <a:buNone/>
            </a:pPr>
            <a:r>
              <a:t/>
            </a:r>
            <a:endParaRPr b="0" i="0" sz="18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9"/>
              <a:buFont typeface="Albert Sans"/>
              <a:buChar char="•"/>
            </a:pPr>
            <a:r>
              <a:rPr b="1" i="0" lang="en-US" sz="1829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They have a band and want to be able to tour</a:t>
            </a:r>
            <a:endParaRPr b="0" i="0" sz="18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9"/>
              <a:buFont typeface="Albert Sans"/>
              <a:buChar char="•"/>
            </a:pPr>
            <a:r>
              <a:rPr b="1" i="0" lang="en-US" sz="1829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They want money for elaborate cosplay</a:t>
            </a:r>
            <a:endParaRPr b="0" i="0" sz="18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9"/>
              <a:buFont typeface="Albert Sans"/>
              <a:buChar char="•"/>
            </a:pPr>
            <a:r>
              <a:rPr b="1" i="0" lang="en-US" sz="1829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They want to retire early</a:t>
            </a:r>
            <a:endParaRPr b="0" i="0" sz="18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9"/>
              <a:buFont typeface="Albert Sans"/>
              <a:buChar char="•"/>
            </a:pPr>
            <a:r>
              <a:rPr b="1" i="0" lang="en-US" sz="1829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They want to make art</a:t>
            </a:r>
            <a:endParaRPr b="0" i="0" sz="18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9"/>
              <a:buFont typeface="Albert Sans"/>
              <a:buChar char="•"/>
            </a:pPr>
            <a:r>
              <a:rPr b="1" i="0" lang="en-US" sz="1829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They want an easy job</a:t>
            </a:r>
            <a:endParaRPr b="0" i="0" sz="18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E9689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/>
          <p:nvPr/>
        </p:nvSpPr>
        <p:spPr>
          <a:xfrm>
            <a:off x="749300" y="819150"/>
            <a:ext cx="76454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7"/>
              <a:buFont typeface="Albert Sans"/>
              <a:buNone/>
            </a:pPr>
            <a:r>
              <a:rPr b="1" i="0" lang="en-US" sz="5817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Even if you hate programming, tech is an amazing place to be</a:t>
            </a:r>
            <a:endParaRPr b="0" i="0" sz="58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48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/>
          <p:nvPr/>
        </p:nvSpPr>
        <p:spPr>
          <a:xfrm>
            <a:off x="749300" y="1549400"/>
            <a:ext cx="7645400" cy="20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I Love Programming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C8F8A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749300" y="1038225"/>
            <a:ext cx="7645400" cy="306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I Build Programming Languages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8A8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>
            <a:off x="749300" y="1549400"/>
            <a:ext cx="7645400" cy="20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You can do anything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858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apresenter:///Users/jimmyhmiller/Library/Containers/net.ia.presenter/Data/Library/Application%20Support/PRESENTER_TEMP/8E3BC9BF-4661-4766-89FF-0A5310CBF444-4753-00000041C232B36E/assets/66136144107e5d9dfb8c0fea_curated_fidenza_b.png" id="84" name="Google Shape;84;p15"/>
          <p:cNvPicPr preferRelativeResize="0"/>
          <p:nvPr/>
        </p:nvPicPr>
        <p:blipFill rotWithShape="1">
          <a:blip r:embed="rId3">
            <a:alphaModFix/>
          </a:blip>
          <a:srcRect b="26463" l="0" r="0" t="26463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98089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apresenter:///Users/jimmyhmiller/Library/Containers/net.ia.presenter/Data/Library/Application%20Support/PRESENTER_TEMP/8E3BC9BF-4661-4766-89FF-0A5310CBF444-4753-00000041C232B36E/assets/Algorave4_ByAntonioRoberts-1440x810.jpg" id="90" name="Google Shape;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87B89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apresenter:///Users/jimmyhmiller/Library/Containers/net.ia.presenter/Data/Library/Application%20Support/PRESENTER_TEMP/8E3BC9BF-4661-4766-89FF-0A5310CBF444-4753-00000041C232B36E/assets/orca_01.jpg" id="96" name="Google Shape;96;p17"/>
          <p:cNvPicPr preferRelativeResize="0"/>
          <p:nvPr/>
        </p:nvPicPr>
        <p:blipFill rotWithShape="1">
          <a:blip r:embed="rId3">
            <a:alphaModFix/>
          </a:blip>
          <a:srcRect b="12804" l="0" r="0" t="1280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77689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749300" y="1038225"/>
            <a:ext cx="7645400" cy="306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What does a software engineer do?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7189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749300" y="635000"/>
            <a:ext cx="7645400" cy="3757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1863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7"/>
              <a:buFont typeface="Calibri"/>
              <a:buNone/>
            </a:pPr>
            <a:r>
              <a:t/>
            </a:r>
            <a:endParaRPr b="0" i="0" sz="1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7"/>
              <a:buFont typeface="Albert Sans"/>
              <a:buChar char="•"/>
            </a:pPr>
            <a:r>
              <a:rPr b="1" i="0" lang="en-US" sz="1957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Code</a:t>
            </a:r>
            <a:endParaRPr b="0" i="0" sz="1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869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7"/>
              <a:buFont typeface="Albert Sans"/>
              <a:buChar char="○"/>
            </a:pPr>
            <a:r>
              <a:rPr b="1" i="0" lang="en-US" sz="1957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Clean up old messy code</a:t>
            </a:r>
            <a:endParaRPr b="0" i="0" sz="1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869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7"/>
              <a:buFont typeface="Albert Sans"/>
              <a:buChar char="○"/>
            </a:pPr>
            <a:r>
              <a:rPr b="1" i="0" lang="en-US" sz="1957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Make code faster</a:t>
            </a:r>
            <a:endParaRPr b="0" i="0" sz="1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869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7"/>
              <a:buFont typeface="Albert Sans"/>
              <a:buChar char="○"/>
            </a:pPr>
            <a:r>
              <a:rPr b="1" i="0" lang="en-US" sz="1957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Debug deep complicated bugs</a:t>
            </a:r>
            <a:endParaRPr b="0" i="0" sz="1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7"/>
              <a:buFont typeface="Albert Sans"/>
              <a:buChar char="•"/>
            </a:pPr>
            <a:r>
              <a:rPr b="1" i="0" lang="en-US" sz="1957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Design Systems</a:t>
            </a:r>
            <a:endParaRPr b="0" i="0" sz="1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7"/>
              <a:buFont typeface="Albert Sans"/>
              <a:buChar char="•"/>
            </a:pPr>
            <a:r>
              <a:rPr b="1" i="0" lang="en-US" sz="1957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Argue with "the business" on how things should be done</a:t>
            </a:r>
            <a:endParaRPr b="0" i="0" sz="1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7"/>
              <a:buFont typeface="Albert Sans"/>
              <a:buChar char="•"/>
            </a:pPr>
            <a:r>
              <a:rPr b="1" i="0" lang="en-US" sz="1957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Talk to customers (occasionally)</a:t>
            </a:r>
            <a:endParaRPr b="0" i="0" sz="1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C85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/>
          <p:nvPr/>
        </p:nvSpPr>
        <p:spPr>
          <a:xfrm>
            <a:off x="749300" y="717550"/>
            <a:ext cx="7645400" cy="37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36"/>
              <a:buFont typeface="Albert Sans"/>
              <a:buNone/>
            </a:pPr>
            <a:r>
              <a:rPr b="1" i="0" lang="en-US" sz="6136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Deeply understand the inner workings of a business</a:t>
            </a:r>
            <a:endParaRPr b="0" i="0" sz="61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78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/>
          <p:nvPr/>
        </p:nvSpPr>
        <p:spPr>
          <a:xfrm>
            <a:off x="749300" y="1181100"/>
            <a:ext cx="7645400" cy="27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36"/>
              <a:buFont typeface="Albert Sans"/>
              <a:buNone/>
            </a:pPr>
            <a:r>
              <a:rPr b="1" i="0" lang="en-US" sz="6136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How Much Do Software Engineers Make?</a:t>
            </a:r>
            <a:endParaRPr b="0" i="0" sz="61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37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apresenter:///Users/jimmyhmiller/Library/Containers/net.ia.presenter/Data/Library/Application%20Support/PRESENTER_TEMP/8E3BC9BF-4661-4766-89FF-0A5310CBF444-4753-00000041C232B36E/assets/Screenshot%202025-05-18%20at%201.38.55%E2%80%AFPM.png" id="126" name="Google Shape;126;p22"/>
          <p:cNvPicPr preferRelativeResize="0"/>
          <p:nvPr/>
        </p:nvPicPr>
        <p:blipFill rotWithShape="1">
          <a:blip r:embed="rId3">
            <a:alphaModFix/>
          </a:blip>
          <a:srcRect b="6546" l="0" r="0" t="654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5E7C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/>
          <p:nvPr/>
        </p:nvSpPr>
        <p:spPr>
          <a:xfrm>
            <a:off x="374650" y="317500"/>
            <a:ext cx="2384227" cy="8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78"/>
              <a:buFont typeface="Albert Sans"/>
              <a:buNone/>
            </a:pPr>
            <a:r>
              <a:rPr b="1" i="0" lang="en-US" sz="5378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Salary</a:t>
            </a:r>
            <a:endParaRPr b="0" i="0" sz="53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374650" y="1536799"/>
            <a:ext cx="2069207" cy="3200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05676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1"/>
              <a:buFont typeface="Calibri"/>
              <a:buNone/>
            </a:pPr>
            <a:r>
              <a:t/>
            </a:r>
            <a:endParaRPr b="0" i="0" sz="21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1"/>
              <a:buFont typeface="Albert Sans"/>
              <a:buChar char="•"/>
            </a:pPr>
            <a:r>
              <a:rPr b="1" i="0" lang="en-US" sz="216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2012: 55k</a:t>
            </a:r>
            <a:endParaRPr b="0" i="0" sz="21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1"/>
              <a:buFont typeface="Albert Sans"/>
              <a:buChar char="•"/>
            </a:pPr>
            <a:r>
              <a:rPr b="1" i="0" lang="en-US" sz="216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2014: 105k</a:t>
            </a:r>
            <a:endParaRPr b="0" i="0" sz="21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1"/>
              <a:buFont typeface="Albert Sans"/>
              <a:buChar char="•"/>
            </a:pPr>
            <a:r>
              <a:rPr b="1" i="0" lang="en-US" sz="216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2018: 120k</a:t>
            </a:r>
            <a:endParaRPr b="0" i="0" sz="21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1"/>
              <a:buFont typeface="Albert Sans"/>
              <a:buChar char="•"/>
            </a:pPr>
            <a:r>
              <a:rPr b="1" i="0" lang="en-US" sz="216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2021: 160k</a:t>
            </a:r>
            <a:endParaRPr b="0" i="0" sz="21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1"/>
              <a:buFont typeface="Albert Sans"/>
              <a:buChar char="•"/>
            </a:pPr>
            <a:r>
              <a:rPr b="1" i="0" lang="en-US" sz="216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2022: 250k</a:t>
            </a:r>
            <a:endParaRPr b="0" i="0" sz="21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1"/>
              <a:buFont typeface="Albert Sans"/>
              <a:buChar char="•"/>
            </a:pPr>
            <a:r>
              <a:rPr b="1" i="0" lang="en-US" sz="216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2023: 380k</a:t>
            </a:r>
            <a:endParaRPr b="0" i="0" sz="21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apresenter:///Users/jimmyhmiller/Library/Containers/net.ia.presenter/Data/Library/Application%20Support/PRESENTER_TEMP/8E3BC9BF-4661-4766-89FF-0A5310CBF444-4753-00000041C232B36E/assets/Screenshot%202025-05-16%20at%202.50.11%E2%80%AFPM.png" id="134" name="Google Shape;134;p23"/>
          <p:cNvPicPr preferRelativeResize="0"/>
          <p:nvPr/>
        </p:nvPicPr>
        <p:blipFill rotWithShape="1">
          <a:blip r:embed="rId3">
            <a:alphaModFix/>
          </a:blip>
          <a:srcRect b="-62588" l="0" r="0" t="-62588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5A79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/>
          <p:nvPr/>
        </p:nvSpPr>
        <p:spPr>
          <a:xfrm>
            <a:off x="749300" y="1549400"/>
            <a:ext cx="7645400" cy="20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I'm far from the highest paid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5575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apresenter:///Users/jimmyhmiller/Library/Containers/net.ia.presenter/Data/Library/Application%20Support/PRESENTER_TEMP/8E3BC9BF-4661-4766-89FF-0A5310CBF444-4753-00000041C232B36E/assets/Screenshot%202025-05-18%20at%202.41.47%E2%80%AFPM.png" id="146" name="Google Shape;146;p25"/>
          <p:cNvPicPr preferRelativeResize="0"/>
          <p:nvPr/>
        </p:nvPicPr>
        <p:blipFill rotWithShape="1">
          <a:blip r:embed="rId3">
            <a:alphaModFix/>
          </a:blip>
          <a:srcRect b="6658" l="0" r="0" t="665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517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apresenter:///Users/jimmyhmiller/Library/Containers/net.ia.presenter/Data/Library/Application%20Support/PRESENTER_TEMP/8E3BC9BF-4661-4766-89FF-0A5310CBF444-4753-00000041C232B36E/assets/Screenshot%202025-05-21%20at%209.01.52%E2%80%AFPM.png" id="152" name="Google Shape;152;p26"/>
          <p:cNvPicPr preferRelativeResize="0"/>
          <p:nvPr/>
        </p:nvPicPr>
        <p:blipFill rotWithShape="1">
          <a:blip r:embed="rId3">
            <a:alphaModFix/>
          </a:blip>
          <a:srcRect b="-26282" l="0" r="0" t="-262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4F7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/>
          <p:nvPr/>
        </p:nvSpPr>
        <p:spPr>
          <a:xfrm>
            <a:off x="749300" y="635000"/>
            <a:ext cx="6640215" cy="971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54"/>
              <a:buFont typeface="Albert Sans"/>
              <a:buNone/>
            </a:pPr>
            <a:r>
              <a:rPr b="1" i="0" lang="en-US" sz="6454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Other Benefits</a:t>
            </a:r>
            <a:endParaRPr b="0" i="0" sz="64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749300" y="1802606"/>
            <a:ext cx="3798292" cy="2619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8181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4"/>
              <a:buFont typeface="Calibri"/>
              <a:buNone/>
            </a:pPr>
            <a:r>
              <a:t/>
            </a:r>
            <a:endParaRPr b="0" i="0" sz="2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4"/>
              <a:buFont typeface="Albert Sans"/>
              <a:buChar char="•"/>
            </a:pPr>
            <a:r>
              <a:rPr b="1" i="0" lang="en-US" sz="2594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Remote Work</a:t>
            </a:r>
            <a:endParaRPr b="0" i="0" sz="2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4"/>
              <a:buFont typeface="Albert Sans"/>
              <a:buChar char="•"/>
            </a:pPr>
            <a:r>
              <a:rPr b="1" i="0" lang="en-US" sz="2594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Unlimited Vacation</a:t>
            </a:r>
            <a:endParaRPr b="0" i="0" sz="2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4"/>
              <a:buFont typeface="Albert Sans"/>
              <a:buChar char="•"/>
            </a:pPr>
            <a:r>
              <a:rPr b="1" i="0" lang="en-US" sz="2594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Flexibility</a:t>
            </a:r>
            <a:endParaRPr b="0" i="0" sz="2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4"/>
              <a:buFont typeface="Albert Sans"/>
              <a:buChar char="•"/>
            </a:pPr>
            <a:r>
              <a:rPr b="1" i="0" lang="en-US" sz="2594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No crazy hours</a:t>
            </a:r>
            <a:endParaRPr b="0" i="0" sz="2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84F6E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/>
          <p:nvPr/>
        </p:nvSpPr>
        <p:spPr>
          <a:xfrm>
            <a:off x="749300" y="635000"/>
            <a:ext cx="4480421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7"/>
              <a:buFont typeface="Albert Sans"/>
              <a:buNone/>
            </a:pPr>
            <a:r>
              <a:rPr b="1" i="0" lang="en-US" sz="5817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Downsides</a:t>
            </a:r>
            <a:endParaRPr b="0" i="0" sz="58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8"/>
          <p:cNvSpPr/>
          <p:nvPr/>
        </p:nvSpPr>
        <p:spPr>
          <a:xfrm>
            <a:off x="749300" y="1688009"/>
            <a:ext cx="7645400" cy="2815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94437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Calibri"/>
              <a:buNone/>
            </a:pPr>
            <a:r>
              <a:t/>
            </a:r>
            <a:endParaRPr b="0" i="0" sz="23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38"/>
              <a:buFont typeface="Albert Sans"/>
              <a:buChar char="•"/>
            </a:pPr>
            <a:r>
              <a:rPr b="1" i="0" lang="en-US" sz="2338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Can be boring</a:t>
            </a:r>
            <a:endParaRPr b="0" i="0" sz="23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38"/>
              <a:buFont typeface="Albert Sans"/>
              <a:buChar char="•"/>
            </a:pPr>
            <a:r>
              <a:rPr b="1" i="0" lang="en-US" sz="2338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Repetitive work</a:t>
            </a:r>
            <a:endParaRPr b="0" i="0" sz="23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38"/>
              <a:buFont typeface="Albert Sans"/>
              <a:buChar char="•"/>
            </a:pPr>
            <a:r>
              <a:rPr b="1" i="0" lang="en-US" sz="2338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Things move slowly</a:t>
            </a:r>
            <a:endParaRPr b="0" i="0" sz="23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38"/>
              <a:buFont typeface="Albert Sans"/>
              <a:buChar char="•"/>
            </a:pPr>
            <a:r>
              <a:rPr b="1" i="0" lang="en-US" sz="2338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Some industries have long hours (startups and games)</a:t>
            </a:r>
            <a:endParaRPr b="0" i="0" sz="23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506D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/>
          <p:nvPr/>
        </p:nvSpPr>
        <p:spPr>
          <a:xfrm>
            <a:off x="749300" y="2060575"/>
            <a:ext cx="4825702" cy="102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Questions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506C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/>
          <p:nvPr/>
        </p:nvSpPr>
        <p:spPr>
          <a:xfrm>
            <a:off x="749300" y="1038225"/>
            <a:ext cx="7645400" cy="306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What language is most relevant?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506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/>
          <p:nvPr/>
        </p:nvSpPr>
        <p:spPr>
          <a:xfrm>
            <a:off x="749300" y="2060575"/>
            <a:ext cx="5155406" cy="102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It Depends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E5169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/>
          <p:nvPr/>
        </p:nvSpPr>
        <p:spPr>
          <a:xfrm>
            <a:off x="749300" y="635000"/>
            <a:ext cx="7645400" cy="3724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02374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13"/>
              <a:buFont typeface="Calibri"/>
              <a:buNone/>
            </a:pPr>
            <a:r>
              <a:t/>
            </a:r>
            <a:endParaRPr b="0" i="0" sz="2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13"/>
              <a:buFont typeface="Albert Sans"/>
              <a:buChar char="•"/>
            </a:pPr>
            <a:r>
              <a:rPr b="1" i="0" lang="en-US" sz="221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Python: AI</a:t>
            </a:r>
            <a:endParaRPr b="0" i="0" sz="2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13"/>
              <a:buFont typeface="Albert Sans"/>
              <a:buChar char="•"/>
            </a:pPr>
            <a:r>
              <a:rPr b="1" i="0" lang="en-US" sz="221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Javascript/TypeScript: Frontend</a:t>
            </a:r>
            <a:endParaRPr b="0" i="0" sz="2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13"/>
              <a:buFont typeface="Albert Sans"/>
              <a:buChar char="•"/>
            </a:pPr>
            <a:r>
              <a:rPr b="1" i="0" lang="en-US" sz="221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Java: Nearly Every Large Company</a:t>
            </a:r>
            <a:endParaRPr b="0" i="0" sz="2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13"/>
              <a:buFont typeface="Albert Sans"/>
              <a:buChar char="•"/>
            </a:pPr>
            <a:r>
              <a:rPr b="1" i="0" lang="en-US" sz="221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C/C++/Rust: Games, Operating Systems, Languages</a:t>
            </a:r>
            <a:endParaRPr b="0" i="0" sz="2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13"/>
              <a:buFont typeface="Albert Sans"/>
              <a:buChar char="•"/>
            </a:pPr>
            <a:r>
              <a:rPr b="1" i="0" lang="en-US" sz="221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Go: Network Services</a:t>
            </a:r>
            <a:endParaRPr b="0" i="0" sz="2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13"/>
              <a:buFont typeface="Albert Sans"/>
              <a:buChar char="•"/>
            </a:pPr>
            <a:r>
              <a:rPr b="1" i="0" lang="en-US" sz="221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SQL: Databases</a:t>
            </a:r>
            <a:endParaRPr b="0" i="0" sz="2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05168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/>
          <p:nvPr/>
        </p:nvSpPr>
        <p:spPr>
          <a:xfrm>
            <a:off x="749300" y="1038225"/>
            <a:ext cx="7645400" cy="306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Unpopular Languages Matter Too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2526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/>
          <p:nvPr/>
        </p:nvSpPr>
        <p:spPr>
          <a:xfrm>
            <a:off x="749300" y="635000"/>
            <a:ext cx="7318573" cy="3245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8181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4"/>
              <a:buFont typeface="Calibri"/>
              <a:buNone/>
            </a:pPr>
            <a:r>
              <a:t/>
            </a:r>
            <a:endParaRPr b="0" i="0" sz="2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4"/>
              <a:buFont typeface="Albert Sans"/>
              <a:buChar char="•"/>
            </a:pPr>
            <a:r>
              <a:rPr b="1" i="0" lang="en-US" sz="2594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Shopify/Github: Ruby</a:t>
            </a:r>
            <a:endParaRPr b="0" i="0" sz="2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4"/>
              <a:buFont typeface="Albert Sans"/>
              <a:buChar char="•"/>
            </a:pPr>
            <a:r>
              <a:rPr b="1" i="0" lang="en-US" sz="2594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Whatsapp: Erlang (20B; 35 Engineers)</a:t>
            </a:r>
            <a:endParaRPr b="0" i="0" sz="2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4"/>
              <a:buFont typeface="Albert Sans"/>
              <a:buChar char="•"/>
            </a:pPr>
            <a:r>
              <a:rPr b="1" i="0" lang="en-US" sz="2594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Largest Bank in Brazil: Clojure</a:t>
            </a:r>
            <a:endParaRPr b="0" i="0" sz="2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4"/>
              <a:buFont typeface="Albert Sans"/>
              <a:buChar char="•"/>
            </a:pPr>
            <a:r>
              <a:rPr b="1" i="0" lang="en-US" sz="2594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Meta: OCaml, Haskell</a:t>
            </a:r>
            <a:endParaRPr b="0" i="0" sz="2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4"/>
              <a:buFont typeface="Albert Sans"/>
              <a:buChar char="•"/>
            </a:pPr>
            <a:r>
              <a:rPr b="1" i="0" lang="en-US" sz="2594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NASA: Lisp</a:t>
            </a:r>
            <a:endParaRPr b="0" i="0" sz="2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5467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/>
          <p:nvPr/>
        </p:nvSpPr>
        <p:spPr>
          <a:xfrm>
            <a:off x="749300" y="2060575"/>
            <a:ext cx="5901829" cy="102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Internships?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5767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/>
          <p:nvPr/>
        </p:nvSpPr>
        <p:spPr>
          <a:xfrm>
            <a:off x="749300" y="635000"/>
            <a:ext cx="2153444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33"/>
              <a:buFont typeface="Albert Sans"/>
              <a:buNone/>
            </a:pPr>
            <a:r>
              <a:rPr b="1" i="0" lang="en-US" sz="423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Advice</a:t>
            </a:r>
            <a:endParaRPr b="0" i="0" sz="42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6"/>
          <p:cNvSpPr/>
          <p:nvPr/>
        </p:nvSpPr>
        <p:spPr>
          <a:xfrm>
            <a:off x="749300" y="1398588"/>
            <a:ext cx="5546328" cy="2928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886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1"/>
              <a:buFont typeface="Calibri"/>
              <a:buNone/>
            </a:pPr>
            <a:r>
              <a:t/>
            </a:r>
            <a:endParaRPr b="0" i="0" sz="17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1"/>
              <a:buFont typeface="Albert Sans"/>
              <a:buChar char="•"/>
            </a:pPr>
            <a:r>
              <a:rPr b="1" i="0" lang="en-US" sz="170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Post Code on Github</a:t>
            </a:r>
            <a:endParaRPr sz="170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613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1"/>
              <a:buFont typeface="Albert Sans"/>
              <a:buChar char="○"/>
            </a:pPr>
            <a:r>
              <a:rPr b="1" i="0" lang="en-US" sz="170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It can be terrible code!</a:t>
            </a:r>
            <a:endParaRPr b="0" i="0" sz="17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613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1"/>
              <a:buFont typeface="Albert Sans"/>
              <a:buChar char="○"/>
            </a:pPr>
            <a:r>
              <a:rPr b="1" i="0" lang="en-US" sz="170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It can be buggy!</a:t>
            </a:r>
            <a:endParaRPr b="0" i="0" sz="17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1"/>
              <a:buFont typeface="Albert Sans"/>
              <a:buChar char="•"/>
            </a:pPr>
            <a:r>
              <a:rPr b="1" i="0" lang="en-US" sz="170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Don't be afraid of "second rate" companies</a:t>
            </a:r>
            <a:endParaRPr b="0" i="0" sz="17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1"/>
              <a:buFont typeface="Albert Sans"/>
              <a:buChar char="•"/>
            </a:pPr>
            <a:r>
              <a:rPr b="1" i="0" lang="en-US" sz="170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Show your personality</a:t>
            </a:r>
            <a:endParaRPr b="0" i="0" sz="17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1"/>
              <a:buFont typeface="Albert Sans"/>
              <a:buChar char="•"/>
            </a:pPr>
            <a:r>
              <a:rPr b="1" i="0" lang="en-US" sz="170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Don't pretend you know something you don't</a:t>
            </a:r>
            <a:endParaRPr b="0" i="0" sz="17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1"/>
              <a:buFont typeface="Albert Sans"/>
              <a:buChar char="•"/>
            </a:pPr>
            <a:r>
              <a:rPr b="1" i="0" lang="en-US" sz="170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Play to your strengths</a:t>
            </a:r>
            <a:endParaRPr b="0" i="0" sz="17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55967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/>
          <p:nvPr/>
        </p:nvSpPr>
        <p:spPr>
          <a:xfrm>
            <a:off x="749300" y="635000"/>
            <a:ext cx="4635004" cy="83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6"/>
              <a:buFont typeface="Albert Sans"/>
              <a:buNone/>
            </a:pPr>
            <a:r>
              <a:rPr b="1" i="0" lang="en-US" sz="5506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Starting out</a:t>
            </a:r>
            <a:endParaRPr b="0" i="0" sz="55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7"/>
          <p:cNvSpPr/>
          <p:nvPr/>
        </p:nvSpPr>
        <p:spPr>
          <a:xfrm>
            <a:off x="749300" y="1634034"/>
            <a:ext cx="6819106" cy="2760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02374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13"/>
              <a:buFont typeface="Calibri"/>
              <a:buNone/>
            </a:pPr>
            <a:r>
              <a:t/>
            </a:r>
            <a:endParaRPr b="0" i="0" sz="2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13"/>
              <a:buFont typeface="Albert Sans"/>
              <a:buChar char="•"/>
            </a:pPr>
            <a:r>
              <a:rPr b="1" i="0" lang="en-US" sz="221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Codebases at companies are messy</a:t>
            </a:r>
            <a:endParaRPr b="0" i="0" sz="2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13"/>
              <a:buFont typeface="Albert Sans"/>
              <a:buChar char="•"/>
            </a:pPr>
            <a:r>
              <a:rPr b="1" i="0" lang="en-US" sz="221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There's a lot you don't know</a:t>
            </a:r>
            <a:endParaRPr b="0" i="0" sz="2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13"/>
              <a:buFont typeface="Albert Sans"/>
              <a:buChar char="•"/>
            </a:pPr>
            <a:r>
              <a:rPr b="1" i="0" lang="en-US" sz="221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Be ambitious but not stupid</a:t>
            </a:r>
            <a:endParaRPr b="0" i="0" sz="2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13"/>
              <a:buFont typeface="Albert Sans"/>
              <a:buChar char="•"/>
            </a:pPr>
            <a:r>
              <a:rPr b="1" i="0" lang="en-US" sz="221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Don't listen to old, grumpy coworkers</a:t>
            </a:r>
            <a:endParaRPr b="0" i="0" sz="2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13"/>
              <a:buFont typeface="Albert Sans"/>
              <a:buChar char="•"/>
            </a:pPr>
            <a:r>
              <a:rPr b="1" i="0" lang="en-US" sz="221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Watch talks, read blogs, learn on your own</a:t>
            </a:r>
            <a:endParaRPr b="0" i="0" sz="2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75C67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/>
          <p:nvPr/>
        </p:nvSpPr>
        <p:spPr>
          <a:xfrm>
            <a:off x="749300" y="2060575"/>
            <a:ext cx="1106884" cy="102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AI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85F67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/>
          <p:nvPr/>
        </p:nvSpPr>
        <p:spPr>
          <a:xfrm>
            <a:off x="749300" y="746125"/>
            <a:ext cx="7645400" cy="365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69"/>
              <a:buFont typeface="Albert Sans"/>
              <a:buNone/>
            </a:pPr>
            <a:r>
              <a:rPr b="1" i="0" lang="en-US" sz="4869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Or: Aren't all programming jobs going away for ever and no will ever code again??</a:t>
            </a:r>
            <a:endParaRPr b="0" i="0" sz="48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6267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/>
          <p:nvPr/>
        </p:nvSpPr>
        <p:spPr>
          <a:xfrm>
            <a:off x="749300" y="1549400"/>
            <a:ext cx="7645400" cy="20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I use AI tools everyday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B6467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/>
          <p:nvPr/>
        </p:nvSpPr>
        <p:spPr>
          <a:xfrm>
            <a:off x="749300" y="1038225"/>
            <a:ext cx="7645400" cy="306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They are pretty darn good. And will get better.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B6666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/>
          <p:nvPr/>
        </p:nvSpPr>
        <p:spPr>
          <a:xfrm>
            <a:off x="749300" y="717550"/>
            <a:ext cx="7645400" cy="37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36"/>
              <a:buFont typeface="Albert Sans"/>
              <a:buNone/>
            </a:pPr>
            <a:r>
              <a:rPr b="1" i="0" lang="en-US" sz="6136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They can't convince people to do the RIGHT thing.</a:t>
            </a:r>
            <a:endParaRPr b="0" i="0" sz="61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B6866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/>
          <p:nvPr/>
        </p:nvSpPr>
        <p:spPr>
          <a:xfrm>
            <a:off x="749300" y="1549400"/>
            <a:ext cx="7645400" cy="20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Jevon's Paradox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B6965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/>
          <p:nvPr/>
        </p:nvSpPr>
        <p:spPr>
          <a:xfrm>
            <a:off x="749300" y="819150"/>
            <a:ext cx="76454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7"/>
              <a:buFont typeface="Albert Sans"/>
              <a:buNone/>
            </a:pPr>
            <a:r>
              <a:rPr b="1" i="0" lang="en-US" sz="5817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If programmers are more efficient, we can have more of them</a:t>
            </a:r>
            <a:endParaRPr b="0" i="0" sz="58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B6B65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/>
          <p:nvPr/>
        </p:nvSpPr>
        <p:spPr>
          <a:xfrm>
            <a:off x="749300" y="1549400"/>
            <a:ext cx="7645400" cy="20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Closing Thoughts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B6C64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B6E64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7"/>
          <p:cNvSpPr/>
          <p:nvPr/>
        </p:nvSpPr>
        <p:spPr>
          <a:xfrm>
            <a:off x="749300" y="2060575"/>
            <a:ext cx="6287790" cy="102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72"/>
              <a:buFont typeface="Albert Sans"/>
              <a:buNone/>
            </a:pPr>
            <a:r>
              <a:rPr b="1" i="0" lang="en-US" sz="6772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Secret Slides</a:t>
            </a:r>
            <a:endParaRPr b="0" i="0" sz="6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B6F63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8"/>
          <p:cNvSpPr/>
          <p:nvPr/>
        </p:nvSpPr>
        <p:spPr>
          <a:xfrm>
            <a:off x="749300" y="635000"/>
            <a:ext cx="7027267" cy="539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6"/>
              <a:buFont typeface="Albert Sans"/>
              <a:buNone/>
            </a:pPr>
            <a:r>
              <a:rPr b="1" i="0" lang="en-US" sz="3596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Other things I've worked on</a:t>
            </a:r>
            <a:endParaRPr b="0" i="0" sz="3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8"/>
          <p:cNvSpPr/>
          <p:nvPr/>
        </p:nvSpPr>
        <p:spPr>
          <a:xfrm>
            <a:off x="749300" y="1283990"/>
            <a:ext cx="2951956" cy="2479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1142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"/>
              <a:buFont typeface="Calibri"/>
              <a:buNone/>
            </a:pPr>
            <a:r>
              <a:t/>
            </a:r>
            <a:endParaRPr b="0" i="0" sz="14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5"/>
              <a:buFont typeface="Albert Sans"/>
              <a:buChar char="•"/>
            </a:pPr>
            <a:r>
              <a:rPr b="1" i="0" lang="en-US" sz="1445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Frontend</a:t>
            </a:r>
            <a:endParaRPr b="0" i="0" sz="14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5"/>
              <a:buFont typeface="Albert Sans"/>
              <a:buChar char="•"/>
            </a:pPr>
            <a:r>
              <a:rPr b="1" i="0" lang="en-US" sz="1445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Backend</a:t>
            </a:r>
            <a:endParaRPr b="0" i="0" sz="14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5"/>
              <a:buFont typeface="Albert Sans"/>
              <a:buChar char="•"/>
            </a:pPr>
            <a:r>
              <a:rPr b="1" i="0" lang="en-US" sz="1445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"Big" Data</a:t>
            </a:r>
            <a:endParaRPr b="0" i="0" sz="14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5"/>
              <a:buFont typeface="Albert Sans"/>
              <a:buChar char="•"/>
            </a:pPr>
            <a:r>
              <a:rPr b="1" i="0" lang="en-US" sz="1445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Fintech</a:t>
            </a:r>
            <a:endParaRPr b="0" i="0" sz="14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5"/>
              <a:buFont typeface="Albert Sans"/>
              <a:buChar char="•"/>
            </a:pPr>
            <a:r>
              <a:rPr b="1" i="0" lang="en-US" sz="1445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Medical Recommendations</a:t>
            </a:r>
            <a:endParaRPr b="0" i="0" sz="14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5"/>
              <a:buFont typeface="Albert Sans"/>
              <a:buChar char="•"/>
            </a:pPr>
            <a:r>
              <a:rPr b="1" i="0" lang="en-US" sz="1445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Adtech</a:t>
            </a:r>
            <a:endParaRPr b="0" i="0" sz="14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5"/>
              <a:buFont typeface="Albert Sans"/>
              <a:buChar char="•"/>
            </a:pPr>
            <a:r>
              <a:rPr b="1" i="0" lang="en-US" sz="1445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Mobile Apps</a:t>
            </a:r>
            <a:endParaRPr b="0" i="0" sz="14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B7163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9"/>
          <p:cNvSpPr/>
          <p:nvPr/>
        </p:nvSpPr>
        <p:spPr>
          <a:xfrm>
            <a:off x="749300" y="635000"/>
            <a:ext cx="2946698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14"/>
              <a:buFont typeface="Albert Sans"/>
              <a:buNone/>
            </a:pPr>
            <a:r>
              <a:rPr b="1" i="0" lang="en-US" sz="3914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Languages</a:t>
            </a:r>
            <a:endParaRPr b="0" i="0" sz="39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9"/>
          <p:cNvSpPr/>
          <p:nvPr/>
        </p:nvSpPr>
        <p:spPr>
          <a:xfrm>
            <a:off x="749300" y="1344414"/>
            <a:ext cx="3363317" cy="3080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43014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3"/>
              <a:buFont typeface="Calibri"/>
              <a:buNone/>
            </a:pPr>
            <a:r>
              <a:t/>
            </a:r>
            <a:endParaRPr b="0" i="0" sz="15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3"/>
              <a:buFont typeface="Albert Sans"/>
              <a:buChar char="•"/>
            </a:pPr>
            <a:r>
              <a:rPr b="1" i="0" lang="en-US" sz="157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Java</a:t>
            </a:r>
            <a:endParaRPr b="0" i="0" sz="15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3"/>
              <a:buFont typeface="Albert Sans"/>
              <a:buChar char="•"/>
            </a:pPr>
            <a:r>
              <a:rPr b="1" i="0" lang="en-US" sz="157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Javascript/Typescript</a:t>
            </a:r>
            <a:endParaRPr b="0" i="0" sz="15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3"/>
              <a:buFont typeface="Albert Sans"/>
              <a:buChar char="•"/>
            </a:pPr>
            <a:r>
              <a:rPr b="1" i="0" lang="en-US" sz="157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Ruby</a:t>
            </a:r>
            <a:endParaRPr b="0" i="0" sz="15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3"/>
              <a:buFont typeface="Albert Sans"/>
              <a:buChar char="•"/>
            </a:pPr>
            <a:r>
              <a:rPr b="1" i="0" lang="en-US" sz="157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Python</a:t>
            </a:r>
            <a:endParaRPr b="0" i="0" sz="15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3"/>
              <a:buFont typeface="Albert Sans"/>
              <a:buChar char="•"/>
            </a:pPr>
            <a:r>
              <a:rPr b="1" i="0" lang="en-US" sz="157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Clojure</a:t>
            </a:r>
            <a:endParaRPr b="0" i="0" sz="15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3"/>
              <a:buFont typeface="Albert Sans"/>
              <a:buChar char="•"/>
            </a:pPr>
            <a:r>
              <a:rPr b="1" i="0" lang="en-US" sz="157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C#</a:t>
            </a:r>
            <a:endParaRPr b="0" i="0" sz="15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3"/>
              <a:buFont typeface="Albert Sans"/>
              <a:buChar char="•"/>
            </a:pPr>
            <a:r>
              <a:rPr b="1" i="0" lang="en-US" sz="157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Rust</a:t>
            </a:r>
            <a:endParaRPr b="0" i="0" sz="15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3"/>
              <a:buFont typeface="Albert Sans"/>
              <a:buChar char="•"/>
            </a:pPr>
            <a:r>
              <a:rPr b="1" i="0" lang="en-US" sz="1573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SQL/JSON/HTML/YAML etc...</a:t>
            </a:r>
            <a:endParaRPr b="0" i="0" sz="15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